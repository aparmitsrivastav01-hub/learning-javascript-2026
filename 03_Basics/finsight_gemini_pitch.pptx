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-35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66725" y="6248400"/>
            <a:ext cx="44280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E5FF"/>
                </a:solidFill>
                <a:latin typeface="Inter"/>
              </a:defRPr>
            </a:pPr>
            <a:r>
              <a:rPr dirty="0"/>
              <a:t>Google Gemini </a:t>
            </a:r>
            <a:r>
              <a:rPr dirty="0" err="1"/>
              <a:t>Hackathon</a:t>
            </a:r>
            <a:r>
              <a:rPr dirty="0"/>
              <a:t>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9962" y="437838"/>
            <a:ext cx="387798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Poppins"/>
              </a:defRPr>
            </a:pPr>
            <a:r>
              <a:rPr dirty="0" err="1" smtClean="0"/>
              <a:t>Fin</a:t>
            </a:r>
            <a:r>
              <a:rPr lang="en-US" dirty="0" err="1" smtClean="0"/>
              <a:t>S</a:t>
            </a:r>
            <a:r>
              <a:rPr dirty="0" err="1" smtClean="0"/>
              <a:t>ight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399" y="2501054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  <a:latin typeface="Inter"/>
              </a:defRPr>
            </a:pPr>
            <a:r>
              <a:rPr dirty="0"/>
              <a:t>From Financial Documents to Financial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09800" y="3390053"/>
            <a:ext cx="7616952" cy="2468880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00E5FF"/>
                </a:solidFill>
                <a:latin typeface="Inter"/>
              </a:defRPr>
            </a:pPr>
            <a:r>
              <a:rPr dirty="0"/>
              <a:t>System Status: Active  |  Running </a:t>
            </a:r>
            <a:r>
              <a:rPr lang="en-US" dirty="0" err="1" smtClean="0"/>
              <a:t>FinGPT</a:t>
            </a:r>
            <a:r>
              <a:rPr dirty="0" smtClean="0"/>
              <a:t>-Flash </a:t>
            </a:r>
            <a:r>
              <a:rPr dirty="0"/>
              <a:t>Engine</a:t>
            </a:r>
            <a:br>
              <a:rPr dirty="0"/>
            </a:br>
            <a:endParaRPr dirty="0"/>
          </a:p>
          <a:p>
            <a:pPr algn="ctr">
              <a:defRPr sz="1600">
                <a:solidFill>
                  <a:srgbClr val="FFFFFF"/>
                </a:solidFill>
                <a:latin typeface="Inter"/>
              </a:defRPr>
            </a:pPr>
            <a:r>
              <a:rPr dirty="0"/>
              <a:t>Analyze: Altman Z-Score </a:t>
            </a:r>
            <a:endParaRPr lang="en-US" dirty="0" smtClean="0"/>
          </a:p>
          <a:p>
            <a:pPr algn="ctr">
              <a:defRPr sz="1600">
                <a:solidFill>
                  <a:srgbClr val="FFFFFF"/>
                </a:solidFill>
                <a:latin typeface="Inter"/>
              </a:defRPr>
            </a:pPr>
            <a:r>
              <a:rPr dirty="0" smtClean="0"/>
              <a:t>-&gt; </a:t>
            </a:r>
            <a:r>
              <a:rPr dirty="0"/>
              <a:t>Solvency Stable (3.41 Safe Zone)</a:t>
            </a:r>
            <a:br>
              <a:rPr dirty="0"/>
            </a:br>
            <a:r>
              <a:rPr dirty="0"/>
              <a:t>Operating Margin: +1.8% </a:t>
            </a:r>
            <a:r>
              <a:rPr dirty="0" err="1"/>
              <a:t>YoY</a:t>
            </a:r>
            <a:r>
              <a:rPr dirty="0"/>
              <a:t> </a:t>
            </a:r>
            <a:endParaRPr lang="en-US" dirty="0" smtClean="0"/>
          </a:p>
          <a:p>
            <a:pPr algn="ctr">
              <a:defRPr sz="1600">
                <a:solidFill>
                  <a:srgbClr val="FFFFFF"/>
                </a:solidFill>
                <a:latin typeface="Inter"/>
              </a:defRPr>
            </a:pPr>
            <a:r>
              <a:rPr dirty="0" smtClean="0"/>
              <a:t> </a:t>
            </a:r>
            <a:r>
              <a:rPr dirty="0"/>
              <a:t>Debt-to-Equity: 0.42</a:t>
            </a:r>
          </a:p>
        </p:txBody>
      </p:sp>
      <p:pic>
        <p:nvPicPr>
          <p:cNvPr id="1028" name="Picture 4" descr="C:\Users\C RR COMPUTERS\Downloads\Gemini_Generated_Image_zcx46qzcx46qzcx4-removebg-pre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508000"/>
            <a:ext cx="889000" cy="88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54864" cy="7315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</a:rPr>
              <a:t>The Bottleneck to </a:t>
            </a:r>
            <a:r>
              <a:rPr sz="3600" b="1">
                <a:solidFill>
                  <a:srgbClr val="00E5FF"/>
                </a:solidFill>
                <a:latin typeface="Poppins"/>
              </a:rPr>
              <a:t>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Imagine an investor opening a 180-page annual report.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  <a:latin typeface="Inter"/>
              </a:defRPr>
            </a:pPr>
            <a:r>
              <a:t>• Finding debt levels, risks, and trends takes hours of manual work.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  <a:latin typeface="Inter"/>
              </a:defRPr>
            </a:pPr>
            <a:r>
              <a:t>• Important insights are buried in complex jargon and deep footnotes.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  <a:latin typeface="Inter"/>
              </a:defRPr>
            </a:pPr>
            <a:r>
              <a:t>• Manual extraction is prone to error and costly oversights.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5029200" cy="1371600"/>
          </a:xfrm>
          <a:prstGeom prst="rect">
            <a:avLst/>
          </a:prstGeom>
          <a:solidFill>
            <a:srgbClr val="0A0F1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FFFFFF"/>
                </a:solidFill>
                <a:latin typeface="Inter"/>
              </a:defRPr>
            </a:pPr>
            <a:r>
              <a:t>Financial information is available.</a:t>
            </a:r>
            <a:br/>
            <a:endParaRPr/>
          </a:p>
          <a:p>
            <a:pPr algn="ctr">
              <a:defRPr sz="2000" b="1">
                <a:solidFill>
                  <a:srgbClr val="00E5FF"/>
                </a:solidFill>
                <a:latin typeface="Inter"/>
              </a:defRPr>
            </a:pPr>
            <a:r>
              <a:t>Financial intelligence is not.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4480560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0"/>
              </a:spcAft>
              <a:defRPr sz="2400" b="1">
                <a:solidFill>
                  <a:srgbClr val="FFFFFF"/>
                </a:solidFill>
                <a:latin typeface="Poppins"/>
              </a:defRPr>
            </a:pPr>
            <a:r>
              <a:t/>
            </a:r>
            <a:br/>
            <a:r>
              <a:t/>
            </a:r>
            <a:br/>
            <a:r>
              <a:t>180+ Page Annual Report</a:t>
            </a:r>
          </a:p>
          <a:p>
            <a:pPr algn="ctr">
              <a:defRPr sz="1600">
                <a:solidFill>
                  <a:srgbClr val="94A3B8"/>
                </a:solidFill>
                <a:latin typeface="Inter"/>
              </a:defRPr>
            </a:pPr>
            <a:r>
              <a:t>Locked inside tabular PDFs, unstructured text volumes, and heavily nested footnotes. Requires multi-hour processing latency for traditional human-led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54864" cy="7315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</a:rPr>
              <a:t>The </a:t>
            </a:r>
            <a:r>
              <a:rPr sz="3600" b="1">
                <a:solidFill>
                  <a:srgbClr val="00E5FF"/>
                </a:solidFill>
                <a:latin typeface="Poppins"/>
              </a:rPr>
              <a:t>Finsight</a:t>
            </a:r>
            <a:r>
              <a:rPr sz="3600" b="1">
                <a:solidFill>
                  <a:srgbClr val="FFFFFF"/>
                </a:solidFill>
                <a:latin typeface="Poppins"/>
              </a:rPr>
              <a:t>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00400" cy="2926080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500"/>
              </a:spcAft>
              <a:defRPr sz="2400" b="1">
                <a:solidFill>
                  <a:srgbClr val="00E5FF"/>
                </a:solidFill>
                <a:latin typeface="Poppins"/>
              </a:defRPr>
            </a:pPr>
            <a:r>
              <a:t/>
            </a:r>
            <a:br/>
            <a:r>
              <a:t>1. Upload</a:t>
            </a:r>
          </a:p>
          <a:p>
            <a:pPr>
              <a:defRPr sz="1600">
                <a:solidFill>
                  <a:srgbClr val="94A3B8"/>
                </a:solidFill>
                <a:latin typeface="Inter"/>
              </a:defRPr>
            </a:pPr>
            <a:r>
              <a:t>Drop a financial document. Annual reports, balance sheets, or SEC filings.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011680"/>
            <a:ext cx="3200400" cy="2926080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500"/>
              </a:spcAft>
              <a:defRPr sz="2400" b="1">
                <a:solidFill>
                  <a:srgbClr val="00E5FF"/>
                </a:solidFill>
                <a:latin typeface="Poppins"/>
              </a:defRPr>
            </a:pPr>
            <a:r>
              <a:t/>
            </a:r>
            <a:br/>
            <a:r>
              <a:t>2. Ask</a:t>
            </a:r>
          </a:p>
          <a:p>
            <a:pPr>
              <a:defRPr sz="1600">
                <a:solidFill>
                  <a:srgbClr val="94A3B8"/>
                </a:solidFill>
                <a:latin typeface="Inter"/>
              </a:defRPr>
            </a:pPr>
            <a:r>
              <a:t>Ask questions in plain English. 'What is the bankruptcy risk score?'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011680"/>
            <a:ext cx="3200400" cy="2926080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500"/>
              </a:spcAft>
              <a:defRPr sz="2400" b="1">
                <a:solidFill>
                  <a:srgbClr val="00E5FF"/>
                </a:solidFill>
                <a:latin typeface="Poppins"/>
              </a:defRPr>
            </a:pPr>
            <a:r>
              <a:t/>
            </a:r>
            <a:br/>
            <a:r>
              <a:t>3. Receive</a:t>
            </a:r>
          </a:p>
          <a:p>
            <a:pPr>
              <a:defRPr sz="1600">
                <a:solidFill>
                  <a:srgbClr val="94A3B8"/>
                </a:solidFill>
                <a:latin typeface="Inter"/>
              </a:defRPr>
            </a:pPr>
            <a:r>
              <a:t>Get structured intelligence instantly. Ratios, summaries, and health checks.</a:t>
            </a:r>
          </a:p>
        </p:txBody>
      </p:sp>
      <p:sp>
        <p:nvSpPr>
          <p:cNvPr id="7" name="Chevron 6"/>
          <p:cNvSpPr/>
          <p:nvPr/>
        </p:nvSpPr>
        <p:spPr>
          <a:xfrm>
            <a:off x="4023360" y="3291840"/>
            <a:ext cx="365760" cy="36576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hevron 7"/>
          <p:cNvSpPr/>
          <p:nvPr/>
        </p:nvSpPr>
        <p:spPr>
          <a:xfrm>
            <a:off x="7772400" y="3291840"/>
            <a:ext cx="365760" cy="36576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Poppins"/>
              </a:defRPr>
            </a:pPr>
            <a:r>
              <a:rPr sz="4000">
                <a:solidFill>
                  <a:srgbClr val="FFFFFF"/>
                </a:solidFill>
              </a:rPr>
              <a:t>Documents </a:t>
            </a:r>
            <a:r>
              <a:rPr sz="4000">
                <a:solidFill>
                  <a:srgbClr val="00E5FF"/>
                </a:solidFill>
              </a:rPr>
              <a:t>➔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54864" cy="7315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64633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 dirty="0">
                <a:solidFill>
                  <a:srgbClr val="FFFFFF"/>
                </a:solidFill>
                <a:latin typeface="Poppins"/>
              </a:rPr>
              <a:t>The </a:t>
            </a:r>
            <a:r>
              <a:rPr lang="en-US" sz="3600" b="1" dirty="0" err="1" smtClean="0">
                <a:solidFill>
                  <a:srgbClr val="00E5FF"/>
                </a:solidFill>
                <a:latin typeface="Poppins"/>
              </a:rPr>
              <a:t>FinGPT</a:t>
            </a:r>
            <a:r>
              <a:rPr sz="3600" b="1" dirty="0" smtClean="0">
                <a:solidFill>
                  <a:srgbClr val="FFFFFF"/>
                </a:solidFill>
                <a:latin typeface="Poppins"/>
              </a:rPr>
              <a:t> </a:t>
            </a:r>
            <a:r>
              <a:rPr sz="3600" b="1" dirty="0">
                <a:solidFill>
                  <a:srgbClr val="FFFFFF"/>
                </a:solidFill>
                <a:latin typeface="Poppins"/>
              </a:rPr>
              <a:t>Intelligence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0A0F1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3474720"/>
            <a:ext cx="1097280" cy="548640"/>
          </a:xfrm>
          <a:prstGeom prst="ellipse">
            <a:avLst/>
          </a:prstGeom>
          <a:solidFill>
            <a:srgbClr val="05070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PDF</a:t>
            </a:r>
          </a:p>
        </p:txBody>
      </p:sp>
      <p:sp>
        <p:nvSpPr>
          <p:cNvPr id="6" name="Hexagon 5"/>
          <p:cNvSpPr/>
          <p:nvPr/>
        </p:nvSpPr>
        <p:spPr>
          <a:xfrm>
            <a:off x="2194560" y="3048000"/>
            <a:ext cx="2011680" cy="1341120"/>
          </a:xfrm>
          <a:prstGeom prst="hexagon">
            <a:avLst/>
          </a:prstGeom>
          <a:solidFill>
            <a:srgbClr val="05070A"/>
          </a:solidFill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E5FF"/>
                </a:solidFill>
                <a:latin typeface="Poppins"/>
              </a:defRPr>
            </a:pPr>
            <a:r>
              <a:rPr lang="en-US" dirty="0" smtClean="0"/>
              <a:t>Finance</a:t>
            </a:r>
            <a:br>
              <a:rPr lang="en-US" dirty="0" smtClean="0"/>
            </a:br>
            <a:r>
              <a:rPr lang="en-US" dirty="0" smtClean="0"/>
              <a:t>Intelligence</a:t>
            </a:r>
          </a:p>
          <a:p>
            <a:pPr algn="ctr">
              <a:defRPr sz="1800" b="1">
                <a:solidFill>
                  <a:srgbClr val="00E5FF"/>
                </a:solidFill>
                <a:latin typeface="Poppins"/>
              </a:defRPr>
            </a:pPr>
            <a:r>
              <a:rPr lang="en-US" dirty="0" smtClean="0"/>
              <a:t>Engine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1097280" cy="548640"/>
          </a:xfrm>
          <a:prstGeom prst="roundRect">
            <a:avLst/>
          </a:prstGeom>
          <a:solidFill>
            <a:srgbClr val="05070A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474720"/>
            <a:ext cx="1097280" cy="548640"/>
          </a:xfrm>
          <a:prstGeom prst="roundRect">
            <a:avLst/>
          </a:prstGeom>
          <a:solidFill>
            <a:srgbClr val="05070A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846320"/>
            <a:ext cx="1097280" cy="548640"/>
          </a:xfrm>
          <a:prstGeom prst="roundRect">
            <a:avLst/>
          </a:prstGeom>
          <a:solidFill>
            <a:srgbClr val="05070A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Footnotes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FFFFF"/>
                </a:solidFill>
                <a:latin typeface="Poppins"/>
              </a:defRPr>
            </a:pPr>
            <a:r>
              <a:t>Gemini transforms raw financial data into understandable insights.</a:t>
            </a:r>
          </a:p>
          <a:p>
            <a:pPr>
              <a:spcAft>
                <a:spcPts val="1000"/>
              </a:spcAft>
              <a:defRPr sz="1500" b="1">
                <a:solidFill>
                  <a:srgbClr val="00E5FF"/>
                </a:solidFill>
                <a:latin typeface="Inter"/>
              </a:defRPr>
            </a:pPr>
            <a:r>
              <a:t>✔ Long Context Understanding: </a:t>
            </a:r>
            <a:r>
              <a:rPr b="0">
                <a:solidFill>
                  <a:srgbClr val="94A3B8"/>
                </a:solidFill>
              </a:rPr>
              <a:t>Effortlessly analyzes massive 200+ page annual filings without losing session context.</a:t>
            </a:r>
          </a:p>
          <a:p>
            <a:pPr>
              <a:spcAft>
                <a:spcPts val="1000"/>
              </a:spcAft>
              <a:defRPr sz="1500" b="1">
                <a:solidFill>
                  <a:srgbClr val="00E5FF"/>
                </a:solidFill>
                <a:latin typeface="Inter"/>
              </a:defRPr>
            </a:pPr>
            <a:r>
              <a:t>✔ Financial Comprehension: </a:t>
            </a:r>
            <a:r>
              <a:rPr b="0">
                <a:solidFill>
                  <a:srgbClr val="94A3B8"/>
                </a:solidFill>
              </a:rPr>
              <a:t>Native processing of complex nested accounting tables, balances, and ledger summaries.</a:t>
            </a:r>
          </a:p>
          <a:p>
            <a:pPr>
              <a:spcAft>
                <a:spcPts val="1000"/>
              </a:spcAft>
              <a:defRPr sz="1500" b="1">
                <a:solidFill>
                  <a:srgbClr val="00E5FF"/>
                </a:solidFill>
                <a:latin typeface="Inter"/>
              </a:defRPr>
            </a:pPr>
            <a:r>
              <a:t>✔ Natural Language Reasoning: </a:t>
            </a:r>
            <a:r>
              <a:rPr b="0">
                <a:solidFill>
                  <a:srgbClr val="94A3B8"/>
                </a:solidFill>
              </a:rPr>
              <a:t>Dynamically links footnotes and management reviews to core primary financial data.</a:t>
            </a:r>
          </a:p>
          <a:p>
            <a:pPr>
              <a:spcAft>
                <a:spcPts val="1000"/>
              </a:spcAft>
              <a:defRPr sz="1500" b="1">
                <a:solidFill>
                  <a:srgbClr val="00E5FF"/>
                </a:solidFill>
                <a:latin typeface="Inter"/>
              </a:defRPr>
            </a:pPr>
            <a:r>
              <a:t>✔ Interactive Q&amp;A Support: </a:t>
            </a:r>
            <a:r>
              <a:rPr b="0">
                <a:solidFill>
                  <a:srgbClr val="94A3B8"/>
                </a:solidFill>
              </a:rPr>
              <a:t>Enables real-time contextual dialog queries on complex tax and asset calculations.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54864" cy="7315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</a:rPr>
              <a:t>Modern </a:t>
            </a:r>
            <a:r>
              <a:rPr sz="3600" b="1">
                <a:solidFill>
                  <a:srgbClr val="00E5FF"/>
                </a:solidFill>
                <a:latin typeface="Poppins"/>
              </a:rP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828800" cy="1645920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0E5FF"/>
                </a:solidFill>
                <a:latin typeface="Poppins"/>
              </a:defRPr>
            </a:pPr>
            <a:r>
              <a:t/>
            </a:r>
            <a:br/>
            <a:r>
              <a:t>UI / UX</a:t>
            </a:r>
          </a:p>
          <a:p>
            <a:pPr algn="ctr">
              <a:defRPr sz="1100">
                <a:solidFill>
                  <a:srgbClr val="94A3B8"/>
                </a:solidFill>
                <a:latin typeface="Inter"/>
              </a:defRPr>
            </a:pPr>
            <a:r>
              <a:t>Next.js &amp; TailwindCSS Interface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51760" y="2743200"/>
            <a:ext cx="18288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26080" y="2103120"/>
            <a:ext cx="1828800" cy="1645920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0E5FF"/>
                </a:solidFill>
                <a:latin typeface="Poppins"/>
              </a:defRPr>
            </a:pPr>
            <a:r>
              <a:t/>
            </a:r>
            <a:br/>
            <a:r>
              <a:t>Doc Parser</a:t>
            </a:r>
          </a:p>
          <a:p>
            <a:pPr algn="ctr">
              <a:defRPr sz="1100">
                <a:solidFill>
                  <a:srgbClr val="94A3B8"/>
                </a:solidFill>
                <a:latin typeface="Inter"/>
              </a:defRPr>
            </a:pPr>
            <a:r>
              <a:t>PDF.js Document Streaming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46320" y="2743200"/>
            <a:ext cx="18288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20640" y="2103120"/>
            <a:ext cx="1828800" cy="1645920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  <a:latin typeface="Poppins"/>
              </a:defRPr>
            </a:pPr>
            <a:r>
              <a:rPr dirty="0"/>
              <a:t/>
            </a:r>
            <a:br>
              <a:rPr dirty="0"/>
            </a:br>
            <a:r>
              <a:rPr lang="en-US" dirty="0" smtClean="0"/>
              <a:t>Intelligence </a:t>
            </a:r>
          </a:p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  <a:latin typeface="Poppins"/>
              </a:defRPr>
            </a:pPr>
            <a:r>
              <a:rPr lang="en-US" dirty="0" smtClean="0"/>
              <a:t>Engine</a:t>
            </a:r>
            <a:endParaRPr dirty="0"/>
          </a:p>
          <a:p>
            <a:pPr algn="ctr">
              <a:defRPr sz="1100">
                <a:solidFill>
                  <a:srgbClr val="94A3B8"/>
                </a:solidFill>
                <a:latin typeface="Inter"/>
              </a:defRPr>
            </a:pPr>
            <a:r>
              <a:rPr dirty="0"/>
              <a:t>Reasoning &amp; Context Extraction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40880" y="2743200"/>
            <a:ext cx="18288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0" y="2103120"/>
            <a:ext cx="1828800" cy="1645920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0E5FF"/>
                </a:solidFill>
                <a:latin typeface="Poppins"/>
              </a:defRPr>
            </a:pPr>
            <a:r>
              <a:t/>
            </a:r>
            <a:br/>
            <a:r>
              <a:t>Validation</a:t>
            </a:r>
          </a:p>
          <a:p>
            <a:pPr algn="ctr">
              <a:defRPr sz="1100">
                <a:solidFill>
                  <a:srgbClr val="94A3B8"/>
                </a:solidFill>
                <a:latin typeface="Inter"/>
              </a:defRPr>
            </a:pPr>
            <a:r>
              <a:t>Safety &amp; Logic Constraints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35440" y="2743200"/>
            <a:ext cx="18288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509760" y="2103120"/>
            <a:ext cx="1828800" cy="1645920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0E5FF"/>
                </a:solidFill>
                <a:latin typeface="Poppins"/>
              </a:defRPr>
            </a:pPr>
            <a:r>
              <a:t/>
            </a:r>
            <a:br/>
            <a:r>
              <a:t>Insights</a:t>
            </a:r>
          </a:p>
          <a:p>
            <a:pPr algn="ctr">
              <a:defRPr sz="1100">
                <a:solidFill>
                  <a:srgbClr val="94A3B8"/>
                </a:solidFill>
                <a:latin typeface="Inter"/>
              </a:defRPr>
            </a:pPr>
            <a:r>
              <a:t>Structured JSON Schema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389120"/>
            <a:ext cx="10725912" cy="1188720"/>
          </a:xfrm>
          <a:prstGeom prst="rect">
            <a:avLst/>
          </a:prstGeom>
          <a:solidFill>
            <a:srgbClr val="0A0F1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00E5FF"/>
                </a:solidFill>
                <a:latin typeface="Poppins"/>
              </a:defRPr>
            </a:pPr>
            <a:r>
              <a:t/>
            </a:r>
            <a:br/>
            <a:r>
              <a:t>🔒 TRUST LAYER VERIFICATION</a:t>
            </a:r>
          </a:p>
          <a:p>
            <a:pPr algn="ctr">
              <a:defRPr sz="1500">
                <a:solidFill>
                  <a:srgbClr val="FFFFFF"/>
                </a:solidFill>
                <a:latin typeface="Inter"/>
              </a:defRPr>
            </a:pPr>
            <a:r>
              <a:t>Every insight generated by Finsight passes through a validation layer before being shown to the user.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54864" cy="7315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</a:rPr>
              <a:t>Empowering </a:t>
            </a:r>
            <a:r>
              <a:rPr sz="3600" b="1">
                <a:solidFill>
                  <a:srgbClr val="00E5FF"/>
                </a:solidFill>
                <a:latin typeface="Poppins"/>
              </a:rPr>
              <a:t>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Poppins"/>
              </a:defRPr>
            </a:pPr>
            <a:r>
              <a:t>✔ Understand health instantly</a:t>
            </a:r>
            <a:br/>
            <a:r>
              <a:rPr sz="1400" b="0">
                <a:solidFill>
                  <a:srgbClr val="94A3B8"/>
                </a:solidFill>
                <a:latin typeface="Inter"/>
              </a:rPr>
              <a:t>Stop guessing metrics. Instantly extract liquidity indicators, solvency risks, and leverage scores.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Poppins"/>
              </a:defRPr>
            </a:pPr>
            <a:r>
              <a:t>✔ Identify risks faster</a:t>
            </a:r>
            <a:br/>
            <a:r>
              <a:rPr sz="1400" b="0">
                <a:solidFill>
                  <a:srgbClr val="94A3B8"/>
                </a:solidFill>
                <a:latin typeface="Inter"/>
              </a:rPr>
              <a:t>Spot hidden financial red flags in accounting footnotes or loan terms before they surface.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Poppins"/>
              </a:defRPr>
            </a:pPr>
            <a:r>
              <a:t>✔ Explore conversationally</a:t>
            </a:r>
            <a:br/>
            <a:r>
              <a:rPr sz="1400" b="0">
                <a:solidFill>
                  <a:srgbClr val="94A3B8"/>
                </a:solidFill>
                <a:latin typeface="Inter"/>
              </a:rPr>
              <a:t>Interrogate deep institutional reports. Treat complex static documents as interactive conversations.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Poppins"/>
              </a:defRPr>
            </a:pPr>
            <a:r>
              <a:t>✔ Learn through interaction</a:t>
            </a:r>
            <a:br/>
            <a:r>
              <a:rPr sz="1400" b="0">
                <a:solidFill>
                  <a:srgbClr val="94A3B8"/>
                </a:solidFill>
                <a:latin typeface="Inter"/>
              </a:rPr>
              <a:t>Complex corporate reports translated into accessible, plain-English educational structures.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FFFFFF"/>
                </a:solidFill>
                <a:latin typeface="Poppins"/>
              </a:defRPr>
            </a:pPr>
            <a:r>
              <a:rPr dirty="0"/>
              <a:t/>
            </a:r>
            <a:br>
              <a:rPr dirty="0"/>
            </a:br>
            <a:r>
              <a:rPr dirty="0"/>
              <a:t>Altman Z-Score Solvency Module</a:t>
            </a:r>
          </a:p>
          <a:p>
            <a:pPr>
              <a:spcAft>
                <a:spcPts val="1500"/>
              </a:spcAft>
              <a:defRPr sz="2400" b="1">
                <a:solidFill>
                  <a:srgbClr val="00E5FF"/>
                </a:solidFill>
                <a:latin typeface="Inter"/>
              </a:defRPr>
            </a:pPr>
            <a:r>
              <a:rPr dirty="0"/>
              <a:t>Result: 3.41 (Safe Solvency Zone)</a:t>
            </a:r>
            <a:br>
              <a:rPr dirty="0"/>
            </a:br>
            <a:endParaRPr dirty="0"/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Poppins"/>
              </a:defRPr>
            </a:pPr>
            <a:r>
              <a:rPr dirty="0"/>
              <a:t>💬 Active Chat Dialog:</a:t>
            </a:r>
            <a:br>
              <a:rPr dirty="0"/>
            </a:br>
            <a:endParaRPr dirty="0"/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rPr dirty="0"/>
              <a:t>User: 'Are there any hidden lawsuits in the footnotes?'</a:t>
            </a:r>
            <a:br>
              <a:rPr dirty="0"/>
            </a:br>
            <a:endParaRPr dirty="0"/>
          </a:p>
          <a:p>
            <a:pPr>
              <a:defRPr sz="1300">
                <a:solidFill>
                  <a:srgbClr val="00E5FF"/>
                </a:solidFill>
                <a:latin typeface="Inter"/>
              </a:defRPr>
            </a:pPr>
            <a:r>
              <a:rPr lang="en-US" dirty="0" smtClean="0"/>
              <a:t>Engine</a:t>
            </a:r>
            <a:r>
              <a:rPr dirty="0" smtClean="0"/>
              <a:t>: </a:t>
            </a:r>
            <a:r>
              <a:rPr dirty="0"/>
              <a:t>'Yes, page 142 notes a pending arbitration. Financial exposure is capped at $4.5M, fully insured and covered.'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54864" cy="7315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</a:rPr>
              <a:t>The </a:t>
            </a:r>
            <a:r>
              <a:rPr sz="3600" b="1">
                <a:solidFill>
                  <a:srgbClr val="00E5FF"/>
                </a:solidFill>
                <a:latin typeface="Poppins"/>
              </a:rPr>
              <a:t>Reliance</a:t>
            </a:r>
            <a:r>
              <a:rPr sz="3600" b="1">
                <a:solidFill>
                  <a:srgbClr val="FFFFFF"/>
                </a:solidFill>
                <a:latin typeface="Poppins"/>
              </a:rPr>
              <a:t> Case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0A0F18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  <a:latin typeface="Poppins"/>
              </a:defRPr>
            </a:pPr>
            <a:r>
              <a:t>Reliance_Report_FY25.pdf (Parsed)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[Segment]: Digital Services, Retail, Petrochemicals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[Gross Revenue]: ₹1,00,000+ Cr.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[Key Audit Focus]: Capex amortization cycles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[Lease Liabilities]: Standard operating lease metrics mapped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[Result]: Parsed 180 pages of dense multi-column ledger tables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         and parsed text streams successfully in 1.4s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0"/>
              </a:spcAft>
              <a:defRPr sz="2800" b="1">
                <a:solidFill>
                  <a:srgbClr val="FFFFFF"/>
                </a:solidFill>
                <a:latin typeface="Poppins"/>
              </a:defRPr>
            </a:pPr>
            <a:r>
              <a:t>From complex annual reports to actionable insights in seconds.</a:t>
            </a:r>
          </a:p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  <a:latin typeface="Inter"/>
              </a:defRPr>
            </a:pPr>
            <a:r>
              <a:t>• Instant structural ratio extraction (PE, Debt/Equity, margins).</a:t>
            </a:r>
          </a:p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  <a:latin typeface="Inter"/>
              </a:defRPr>
            </a:pPr>
            <a:r>
              <a:t>• Algorithmic sentiment scoring on management review commentary.</a:t>
            </a:r>
          </a:p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  <a:latin typeface="Inter"/>
              </a:defRPr>
            </a:pPr>
            <a:r>
              <a:t>• Precision scanning for contingent liabilities tucked away in footnotes.</a:t>
            </a:r>
          </a:p>
          <a:p>
            <a:pPr>
              <a:defRPr sz="1200" i="1">
                <a:solidFill>
                  <a:srgbClr val="00E5FF"/>
                </a:solidFill>
                <a:latin typeface="Inter"/>
              </a:defRPr>
            </a:pPr>
            <a:r>
              <a:t>Generated from uploaded company filings using Gemini-powered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54864" cy="7315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</a:rPr>
              <a:t>How </a:t>
            </a:r>
            <a:r>
              <a:rPr sz="3600" b="1">
                <a:solidFill>
                  <a:srgbClr val="00E5FF"/>
                </a:solidFill>
                <a:latin typeface="Poppins"/>
              </a:rPr>
              <a:t>Gemini</a:t>
            </a:r>
            <a:r>
              <a:rPr sz="3600" b="1">
                <a:solidFill>
                  <a:srgbClr val="FFFFFF"/>
                </a:solidFill>
                <a:latin typeface="Poppins"/>
              </a:rPr>
              <a:t> Helped Build Finsight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0"/>
              </a:spcAft>
              <a:defRPr sz="2400" b="1">
                <a:solidFill>
                  <a:srgbClr val="00E5FF"/>
                </a:solidFill>
                <a:latin typeface="Poppins"/>
              </a:defRPr>
            </a:pPr>
            <a:r>
              <a:t/>
            </a:r>
            <a:br/>
            <a:r>
              <a:t>🛠 Development Partner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Prompt engineering refinement for structured JSON formatting.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Code debugging support for robust multi-page PDF rendering.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System architecture mapping and deployment planning.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0"/>
              </a:spcAft>
              <a:defRPr sz="2400" b="1">
                <a:solidFill>
                  <a:srgbClr val="00E5FF"/>
                </a:solidFill>
                <a:latin typeface="Poppins"/>
              </a:defRPr>
            </a:pPr>
            <a:r>
              <a:t/>
            </a:r>
            <a:br/>
            <a:r>
              <a:t>🚀 Runtime Intelligence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Native multi-modal tabular parsing from complex PDF streams.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Contextual reasoning connecting ledger sheets and footnotes.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Natural language processing for human-to-document conversations.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54864" cy="7315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</a:rPr>
              <a:t>Current Status &amp; </a:t>
            </a:r>
            <a:r>
              <a:rPr sz="3600" b="1">
                <a:solidFill>
                  <a:srgbClr val="00E5FF"/>
                </a:solidFill>
                <a:latin typeface="Poppins"/>
              </a:rPr>
              <a:t>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0"/>
              </a:spcAft>
              <a:defRPr sz="2400" b="1">
                <a:solidFill>
                  <a:srgbClr val="10B981"/>
                </a:solidFill>
                <a:latin typeface="Poppins"/>
              </a:defRPr>
            </a:pPr>
            <a:r>
              <a:t/>
            </a:r>
            <a:br/>
            <a:r>
              <a:t>📈 Current Capabilities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Inter"/>
              </a:defRPr>
            </a:pPr>
            <a:r>
              <a:t>✔ Advanced financial document parsing and structure extraction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Inter"/>
              </a:defRPr>
            </a:pPr>
            <a:r>
              <a:t>✔ Precision accounting ratio mapping and Altman solvency calculation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Inter"/>
              </a:defRPr>
            </a:pPr>
            <a:r>
              <a:t>✔ Conversational QA engine traversing dense financial logs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Inter"/>
              </a:defRPr>
            </a:pPr>
            <a:r>
              <a:t>✔ Deep semantic risk analysis and warning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0"/>
              </a:spcAft>
              <a:defRPr sz="2400" b="1">
                <a:solidFill>
                  <a:srgbClr val="EF4444"/>
                </a:solidFill>
                <a:latin typeface="Poppins"/>
              </a:defRPr>
            </a:pPr>
            <a:r>
              <a:t/>
            </a:r>
            <a:br/>
            <a:r>
              <a:t>⚠ Honest Limitations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• Prototype/Hackathon phase - Subject to initial testing cycles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• Single-document session workflows only for this iteration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• No real-time market trading feeds or active price updates integrated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  <a:latin typeface="Inter"/>
              </a:defRPr>
            </a:pPr>
            <a:r>
              <a:t>• Optimized for standard GAAP or IFRS structural filings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0699" y="457200"/>
            <a:ext cx="1028012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Poppins"/>
              </a:defRPr>
            </a:pPr>
            <a:r>
              <a:rPr dirty="0"/>
              <a:t>Making Financial </a:t>
            </a:r>
            <a:r>
              <a:rPr dirty="0" smtClean="0"/>
              <a:t>A</a:t>
            </a:r>
            <a:r>
              <a:rPr lang="en-US" dirty="0" smtClean="0"/>
              <a:t>n</a:t>
            </a:r>
            <a:r>
              <a:rPr dirty="0" smtClean="0"/>
              <a:t>alysis </a:t>
            </a:r>
            <a:r>
              <a:rPr dirty="0"/>
              <a:t>Accessible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94A3B8"/>
                </a:solidFill>
                <a:latin typeface="Inter"/>
              </a:defRPr>
            </a:pPr>
            <a:r>
              <a:t>"Our vision is to make financial analysis accessible to anyone, regardless of financial background."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60320"/>
            <a:ext cx="2468880" cy="1645920"/>
          </a:xfrm>
          <a:prstGeom prst="roundRect">
            <a:avLst/>
          </a:prstGeom>
          <a:solidFill>
            <a:srgbClr val="0A0F1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0E5FF"/>
                </a:solidFill>
                <a:latin typeface="Poppins"/>
              </a:defRPr>
            </a:pPr>
            <a:r>
              <a:t/>
            </a:r>
            <a:br/>
            <a:r>
              <a:t>Multi-Document</a:t>
            </a:r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Compare statements side-by-side dynamically.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560320"/>
            <a:ext cx="2468880" cy="1645920"/>
          </a:xfrm>
          <a:prstGeom prst="roundRect">
            <a:avLst/>
          </a:prstGeom>
          <a:solidFill>
            <a:srgbClr val="0A0F1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0E5FF"/>
                </a:solidFill>
                <a:latin typeface="Poppins"/>
              </a:defRPr>
            </a:pPr>
            <a:r>
              <a:t/>
            </a:r>
            <a:br/>
            <a:r>
              <a:t>Trend Tracking</a:t>
            </a:r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Review performance trajectories over multi-year terms.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560320"/>
            <a:ext cx="2468880" cy="1645920"/>
          </a:xfrm>
          <a:prstGeom prst="roundRect">
            <a:avLst/>
          </a:prstGeom>
          <a:solidFill>
            <a:srgbClr val="0A0F1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0E5FF"/>
                </a:solidFill>
                <a:latin typeface="Poppins"/>
              </a:defRPr>
            </a:pPr>
            <a:r>
              <a:t/>
            </a:r>
            <a:br/>
            <a:r>
              <a:t>Portfolio Analysis</a:t>
            </a:r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Combine multiple corporate holdings into aggregated dashboards.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2560320"/>
            <a:ext cx="2468880" cy="1645920"/>
          </a:xfrm>
          <a:prstGeom prst="roundRect">
            <a:avLst/>
          </a:prstGeom>
          <a:solidFill>
            <a:srgbClr val="0A0F1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0E5FF"/>
                </a:solidFill>
                <a:latin typeface="Poppins"/>
              </a:defRPr>
            </a:pPr>
            <a:r>
              <a:t/>
            </a:r>
            <a:br/>
            <a:r>
              <a:t>Mobile App UX</a:t>
            </a:r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Portable, on-the-go financial intelligence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3600" b="1">
                <a:solidFill>
                  <a:srgbClr val="FFFFFF"/>
                </a:solidFill>
                <a:latin typeface="Poppins"/>
              </a:defRPr>
            </a:pPr>
            <a:r>
              <a:t>Upload. Ask. Understand.</a:t>
            </a:r>
          </a:p>
          <a:p>
            <a:pPr algn="ctr">
              <a:defRPr sz="1600">
                <a:solidFill>
                  <a:srgbClr val="00E5FF"/>
                </a:solidFill>
                <a:latin typeface="Inter"/>
              </a:defRPr>
            </a:pPr>
            <a:r>
              <a:t>Thank You  |  Finsight Team  |  Google Gemini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341</Words>
  <Application>Microsoft Office PowerPoint</Application>
  <PresentationFormat>Custom</PresentationFormat>
  <Paragraphs>105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 RR COMPUTERS</cp:lastModifiedBy>
  <cp:revision>2</cp:revision>
  <dcterms:created xsi:type="dcterms:W3CDTF">2013-01-27T09:14:16Z</dcterms:created>
  <dcterms:modified xsi:type="dcterms:W3CDTF">2026-06-12T19:10:37Z</dcterms:modified>
  <cp:category/>
</cp:coreProperties>
</file>